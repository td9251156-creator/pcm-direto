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3370" y="2667000"/>
            <a:ext cx="5961261" cy="4000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47593" y="7200900"/>
            <a:ext cx="835209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Manual da marca · Versão 02 · Outubro 2026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2120900"/>
            <a:ext cx="15621000" cy="76200"/>
          </a:xfrm>
          <a:prstGeom prst="rect">
            <a:avLst/>
          </a:prstGeom>
          <a:solidFill>
            <a:srgbClr val="E2701F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1143000"/>
            <a:ext cx="17183100" cy="787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B2A5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Versões da marca</a:t>
            </a:r>
            <a:endParaRPr lang="en-US" sz="5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500" y="4914900"/>
            <a:ext cx="4258072" cy="2857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33500" y="8001000"/>
            <a:ext cx="4683879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7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Vertical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333500" y="8559800"/>
            <a:ext cx="4385814" cy="622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4A566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Assinatura principal. Nunca usar com slogan.</a:t>
            </a:r>
            <a:endParaRPr lang="en-US" sz="2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3572" y="6921500"/>
            <a:ext cx="3835103" cy="1143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53572" y="8293100"/>
            <a:ext cx="5050592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7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Horizontal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6353572" y="8851900"/>
            <a:ext cx="5050592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4A566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Cabeçalhos, barras e espaços baixos.</a:t>
            </a:r>
            <a:endParaRPr lang="en-US" sz="2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7019" y="6350000"/>
            <a:ext cx="4561979" cy="17145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707019" y="8293100"/>
            <a:ext cx="577223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7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Horizontal com slogan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11707019" y="8851900"/>
            <a:ext cx="577223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4A566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Única versão com slogan, abaixo da barra.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2120900"/>
            <a:ext cx="15621000" cy="76200"/>
          </a:xfrm>
          <a:prstGeom prst="rect">
            <a:avLst/>
          </a:prstGeom>
          <a:solidFill>
            <a:srgbClr val="E2701F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1143000"/>
            <a:ext cx="17183100" cy="787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B2A5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Paleta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333500" y="2806700"/>
            <a:ext cx="3619500" cy="2095500"/>
          </a:xfrm>
          <a:prstGeom prst="rect">
            <a:avLst/>
          </a:prstGeom>
          <a:solidFill>
            <a:srgbClr val="0B2A5B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5092700"/>
            <a:ext cx="398145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7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Azul PCM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33500" y="5422900"/>
            <a:ext cx="39814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4A56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#0B2A5B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334000" y="2806700"/>
            <a:ext cx="3619500" cy="2095500"/>
          </a:xfrm>
          <a:prstGeom prst="rect">
            <a:avLst/>
          </a:prstGeom>
          <a:solidFill>
            <a:srgbClr val="071C3D"/>
          </a:solidFill>
          <a:ln/>
        </p:spPr>
      </p:sp>
      <p:sp>
        <p:nvSpPr>
          <p:cNvPr id="8" name="Text 6"/>
          <p:cNvSpPr/>
          <p:nvPr/>
        </p:nvSpPr>
        <p:spPr>
          <a:xfrm>
            <a:off x="5334000" y="5092700"/>
            <a:ext cx="398145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7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Azul profundo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34000" y="5422900"/>
            <a:ext cx="39814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4A56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#071C3D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334500" y="2806700"/>
            <a:ext cx="3619500" cy="2095500"/>
          </a:xfrm>
          <a:prstGeom prst="rect">
            <a:avLst/>
          </a:prstGeom>
          <a:solidFill>
            <a:srgbClr val="E2701F"/>
          </a:solidFill>
          <a:ln/>
        </p:spPr>
      </p:sp>
      <p:sp>
        <p:nvSpPr>
          <p:cNvPr id="11" name="Text 9"/>
          <p:cNvSpPr/>
          <p:nvPr/>
        </p:nvSpPr>
        <p:spPr>
          <a:xfrm>
            <a:off x="9334500" y="5092700"/>
            <a:ext cx="398145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7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Laranja sinal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334500" y="5422900"/>
            <a:ext cx="39814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4A56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#E2701F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3335000" y="2806700"/>
            <a:ext cx="3619500" cy="2095500"/>
          </a:xfrm>
          <a:prstGeom prst="rect">
            <a:avLst/>
          </a:prstGeom>
          <a:solidFill>
            <a:srgbClr val="B85600"/>
          </a:solidFill>
          <a:ln/>
        </p:spPr>
      </p:sp>
      <p:sp>
        <p:nvSpPr>
          <p:cNvPr id="14" name="Text 12"/>
          <p:cNvSpPr/>
          <p:nvPr/>
        </p:nvSpPr>
        <p:spPr>
          <a:xfrm>
            <a:off x="13335000" y="5092700"/>
            <a:ext cx="398145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7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Laranja texto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335000" y="5422900"/>
            <a:ext cx="39814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4A56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#B85600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333500" y="6381750"/>
            <a:ext cx="3619500" cy="1143000"/>
          </a:xfrm>
          <a:prstGeom prst="rect">
            <a:avLst/>
          </a:prstGeom>
          <a:solidFill>
            <a:srgbClr val="0E1726"/>
          </a:solidFill>
          <a:ln/>
        </p:spPr>
      </p:sp>
      <p:sp>
        <p:nvSpPr>
          <p:cNvPr id="17" name="Text 15"/>
          <p:cNvSpPr/>
          <p:nvPr/>
        </p:nvSpPr>
        <p:spPr>
          <a:xfrm>
            <a:off x="1333500" y="7677150"/>
            <a:ext cx="39814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E17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Tinta #0E1726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5334000" y="6381750"/>
            <a:ext cx="3619500" cy="1143000"/>
          </a:xfrm>
          <a:prstGeom prst="rect">
            <a:avLst/>
          </a:prstGeom>
          <a:solidFill>
            <a:srgbClr val="4A5668"/>
          </a:solidFill>
          <a:ln/>
        </p:spPr>
      </p:sp>
      <p:sp>
        <p:nvSpPr>
          <p:cNvPr id="19" name="Text 17"/>
          <p:cNvSpPr/>
          <p:nvPr/>
        </p:nvSpPr>
        <p:spPr>
          <a:xfrm>
            <a:off x="5334000" y="7677150"/>
            <a:ext cx="39814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E17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Cinza texto #4A5668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334500" y="6381750"/>
            <a:ext cx="3619500" cy="1143000"/>
          </a:xfrm>
          <a:prstGeom prst="rect">
            <a:avLst/>
          </a:prstGeom>
          <a:solidFill>
            <a:srgbClr val="DDE3EA"/>
          </a:solidFill>
          <a:ln/>
        </p:spPr>
      </p:sp>
      <p:sp>
        <p:nvSpPr>
          <p:cNvPr id="21" name="Text 19"/>
          <p:cNvSpPr/>
          <p:nvPr/>
        </p:nvSpPr>
        <p:spPr>
          <a:xfrm>
            <a:off x="9334500" y="7677150"/>
            <a:ext cx="39814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E17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Linha #DDE3EA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3335000" y="6381750"/>
            <a:ext cx="3619500" cy="1181100"/>
          </a:xfrm>
          <a:prstGeom prst="rect">
            <a:avLst/>
          </a:prstGeom>
          <a:solidFill>
            <a:srgbClr val="F4F6F9"/>
          </a:solidFill>
          <a:ln w="19050">
            <a:solidFill>
              <a:srgbClr val="DDE3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335000" y="7715250"/>
            <a:ext cx="39814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E17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Superfície #F4F6F9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2120900"/>
            <a:ext cx="15621000" cy="76200"/>
          </a:xfrm>
          <a:prstGeom prst="rect">
            <a:avLst/>
          </a:prstGeom>
          <a:solidFill>
            <a:srgbClr val="E2701F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1143000"/>
            <a:ext cx="17183100" cy="787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B2A5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Tipografia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333500" y="2730500"/>
            <a:ext cx="8067675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954"/>
              </a:lnSpc>
              <a:buNone/>
            </a:pPr>
            <a:r>
              <a:rPr lang="en-US" sz="12000" b="1" dirty="0">
                <a:solidFill>
                  <a:srgbClr val="0B2A5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Aa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333500" y="4445000"/>
            <a:ext cx="806767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E17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Archivo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333500" y="5092700"/>
            <a:ext cx="7554278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55"/>
              </a:lnSpc>
              <a:buNone/>
            </a:pPr>
            <a:r>
              <a:rPr lang="en-US" sz="2250" dirty="0">
                <a:solidFill>
                  <a:srgbClr val="4A566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PCM 900 · DIRETO 600 · slogan 500 + 700 · textos 400–800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620250" y="2730500"/>
            <a:ext cx="8067675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12000" dirty="0">
                <a:solidFill>
                  <a:srgbClr val="0B2A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Aa</a:t>
            </a:r>
            <a:endParaRPr lang="en-US" sz="12000" dirty="0"/>
          </a:p>
        </p:txBody>
      </p:sp>
      <p:sp>
        <p:nvSpPr>
          <p:cNvPr id="8" name="Text 6"/>
          <p:cNvSpPr/>
          <p:nvPr/>
        </p:nvSpPr>
        <p:spPr>
          <a:xfrm>
            <a:off x="9620250" y="4445000"/>
            <a:ext cx="806767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E17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IBM Plex Mono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9620250" y="5092700"/>
            <a:ext cx="806767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55"/>
              </a:lnSpc>
              <a:buNone/>
            </a:pPr>
            <a:r>
              <a:rPr lang="en-US" sz="2250" dirty="0">
                <a:solidFill>
                  <a:srgbClr val="4A566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TAGs, códigos e dados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620250" y="5711825"/>
            <a:ext cx="806767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0E17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UTL-CMP-001 · PCMD-03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2120900"/>
            <a:ext cx="15621000" cy="76200"/>
          </a:xfrm>
          <a:prstGeom prst="rect">
            <a:avLst/>
          </a:prstGeom>
          <a:solidFill>
            <a:srgbClr val="E2701F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1143000"/>
            <a:ext cx="17183100" cy="787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B2A5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Regras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333500" y="2730500"/>
            <a:ext cx="17183100" cy="54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710"/>
              </a:lnSpc>
              <a:buNone/>
            </a:pPr>
            <a:r>
              <a:rPr lang="en-US" sz="2850" dirty="0">
                <a:solidFill>
                  <a:srgbClr val="0E17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Área de proteção: metade da altura de PCM em todos os lados (já incluída nos arquivos).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1333500" y="3580110"/>
            <a:ext cx="17183100" cy="54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710"/>
              </a:lnSpc>
              <a:buNone/>
            </a:pPr>
            <a:r>
              <a:rPr lang="en-US" sz="2850" dirty="0">
                <a:solidFill>
                  <a:srgbClr val="0E17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Tamanho mínimo: vertical 36 px / 10 mm · horizontal 22 px / 6 mm de altura.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333500" y="4429720"/>
            <a:ext cx="17183100" cy="54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710"/>
              </a:lnSpc>
              <a:buNone/>
            </a:pPr>
            <a:r>
              <a:rPr lang="en-US" sz="2850" dirty="0">
                <a:solidFill>
                  <a:srgbClr val="0E17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Não distorcer, rotacionar, recolorir nem aplicar sobre fundo sem contraste.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333500" y="5279331"/>
            <a:ext cx="17183100" cy="54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710"/>
              </a:lnSpc>
              <a:buNone/>
            </a:pPr>
            <a:r>
              <a:rPr lang="en-US" sz="2850" dirty="0">
                <a:solidFill>
                  <a:srgbClr val="0E17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Texto branco sobre laranja não é permitido (contraste 3,2:1).</a:t>
            </a:r>
            <a:endParaRPr lang="en-US" sz="2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2025650"/>
            <a:ext cx="15621000" cy="76200"/>
          </a:xfrm>
          <a:prstGeom prst="rect">
            <a:avLst/>
          </a:prstGeom>
          <a:solidFill>
            <a:srgbClr val="E2701F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1047750"/>
            <a:ext cx="4795748" cy="787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B2A5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Padrão Word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3273980" y="1447800"/>
            <a:ext cx="4048571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4A56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PCMD-Modelo-Padrao.docx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333500" y="2559050"/>
            <a:ext cx="8172450" cy="507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54"/>
              </a:lnSpc>
              <a:buNone/>
            </a:pPr>
            <a:r>
              <a:rPr lang="en-US" sz="2550" b="1" dirty="0">
                <a:solidFill>
                  <a:srgbClr val="0B2A5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Estrutura fixa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333500" y="3295253"/>
            <a:ext cx="7652385" cy="2984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0E17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 OBJETIVO 2. ESCOPO E APLICAÇÃO 3. DEFINIÇÕES E SIGLAS 4. RESPONSABILIDADES 5. DESCRIÇÃO DO PROCEDIMENTO 6. REGISTROS E ANEXOS 7. HISTÓRICO DE REVISÕES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525000" y="2559050"/>
            <a:ext cx="8172450" cy="507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54"/>
              </a:lnSpc>
              <a:buNone/>
            </a:pPr>
            <a:r>
              <a:rPr lang="en-US" sz="2550" b="1" dirty="0">
                <a:solidFill>
                  <a:srgbClr val="0B2A5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Como usar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525000" y="3257153"/>
            <a:ext cx="81724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0E17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Sempre partir do modelo; nunca de um documento antigo.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525000" y="3900091"/>
            <a:ext cx="765238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0E17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Usar os estilos do modelo (Título, Corpo, Nota) e a tabela </a:t>
            </a:r>
            <a:pPr algn="l" indent="0" marL="0">
              <a:lnSpc>
                <a:spcPct val="133163"/>
              </a:lnSpc>
              <a:buNone/>
            </a:pPr>
            <a:r>
              <a:rPr lang="en-US" sz="2250" b="1" dirty="0">
                <a:solidFill>
                  <a:srgbClr val="0E17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TabelaPCMD</a:t>
            </a:r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0E17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; não formatar à mão.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525000" y="4957366"/>
            <a:ext cx="81724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0E17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Cabeçalho com logo e código; rodapé com Rev. e data.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525000" y="5600304"/>
            <a:ext cx="765238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0E17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Caixa </a:t>
            </a:r>
            <a:pPr algn="l" indent="0" marL="0">
              <a:lnSpc>
                <a:spcPct val="133163"/>
              </a:lnSpc>
              <a:buNone/>
            </a:pPr>
            <a:r>
              <a:rPr lang="en-US" sz="2250" b="1" dirty="0">
                <a:solidFill>
                  <a:srgbClr val="B856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NOTA </a:t>
            </a:r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0E17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só para aviso curto que o leitor não pode deixar passar.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525000" y="6657579"/>
            <a:ext cx="81724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0E17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Toda alteração gera nova linha no Histórico de revisões.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2025650"/>
            <a:ext cx="15621000" cy="76200"/>
          </a:xfrm>
          <a:prstGeom prst="rect">
            <a:avLst/>
          </a:prstGeom>
          <a:solidFill>
            <a:srgbClr val="E2701F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1047750"/>
            <a:ext cx="4952911" cy="787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B2A5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Padrão Excel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3273980" y="1447800"/>
            <a:ext cx="4048571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4A56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PCMD-Modelo-Padrao.xlsx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333500" y="2559050"/>
            <a:ext cx="8172450" cy="507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54"/>
              </a:lnSpc>
              <a:buNone/>
            </a:pPr>
            <a:r>
              <a:rPr lang="en-US" sz="2550" b="1" dirty="0">
                <a:solidFill>
                  <a:srgbClr val="0B2A5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Layout da aba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333500" y="3257153"/>
            <a:ext cx="81724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0E17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Linhas 1–2: logo + título, borda inferior laranja.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33500" y="3900091"/>
            <a:ext cx="765238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0E17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Linha 3: cabeçalho azul #0B2A5B, Arial 9 negrito branco, centralizado.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333500" y="4957366"/>
            <a:ext cx="81724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0E17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Dados: Arial 9, cor Tinta, bordas finas #DDE3EA.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333500" y="5600304"/>
            <a:ext cx="765238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0E17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Congelar painéis abaixo do cabeçalho; ocultar linhas de grade.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333500" y="6657579"/>
            <a:ext cx="7652385" cy="879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0E17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Códigos, TAGs e datas no formato </a:t>
            </a:r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0E17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UTL-CMP-001 · dd/mm/aaaa </a:t>
            </a:r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0E17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525000" y="2559050"/>
            <a:ext cx="8172450" cy="507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54"/>
              </a:lnSpc>
              <a:buNone/>
            </a:pPr>
            <a:r>
              <a:rPr lang="en-US" sz="2550" b="1" dirty="0">
                <a:solidFill>
                  <a:srgbClr val="0B2A5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Células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525000" y="3257153"/>
            <a:ext cx="723900" cy="495300"/>
          </a:xfrm>
          <a:prstGeom prst="rect">
            <a:avLst/>
          </a:prstGeom>
          <a:solidFill>
            <a:srgbClr val="E6EEF8"/>
          </a:solidFill>
          <a:ln w="19050">
            <a:solidFill>
              <a:srgbClr val="DD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39400" y="3297634"/>
            <a:ext cx="522412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0E17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Campo a preencher: fundo azul-claro.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525000" y="4147741"/>
            <a:ext cx="723900" cy="495300"/>
          </a:xfrm>
          <a:prstGeom prst="rect">
            <a:avLst/>
          </a:prstGeom>
          <a:solidFill>
            <a:srgbClr val="ECEFF3"/>
          </a:solidFill>
          <a:ln w="19050">
            <a:solidFill>
              <a:srgbClr val="DD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39400" y="3981053"/>
            <a:ext cx="6710553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0E17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Coluna automática: fundo cinza, texto cinza. Fórmula protegida.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525000" y="5038329"/>
            <a:ext cx="81724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0E17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Vazio fica "A definir"; nada é presumido.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525000" y="5681266"/>
            <a:ext cx="81724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0E17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Coluna Conferência: </a:t>
            </a:r>
            <a:pPr algn="l" indent="0" marL="0">
              <a:lnSpc>
                <a:spcPct val="133163"/>
              </a:lnSpc>
              <a:buNone/>
            </a:pPr>
            <a:r>
              <a:rPr lang="en-US" sz="2250" b="1" dirty="0">
                <a:solidFill>
                  <a:srgbClr val="0E17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OK </a:t>
            </a:r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0E17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· </a:t>
            </a:r>
            <a:pPr algn="l" indent="0" marL="0">
              <a:lnSpc>
                <a:spcPct val="133163"/>
              </a:lnSpc>
              <a:buNone/>
            </a:pPr>
            <a:r>
              <a:rPr lang="en-US" sz="2250" b="1" dirty="0">
                <a:solidFill>
                  <a:srgbClr val="8A5A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Pendente: … </a:t>
            </a:r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0E17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· </a:t>
            </a:r>
            <a:pPr algn="l" indent="0" marL="0">
              <a:lnSpc>
                <a:spcPct val="133163"/>
              </a:lnSpc>
              <a:buNone/>
            </a:pPr>
            <a:r>
              <a:rPr lang="en-US" sz="2250" b="1" dirty="0">
                <a:solidFill>
                  <a:srgbClr val="B3261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ERRO: …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2025650"/>
            <a:ext cx="15621000" cy="76200"/>
          </a:xfrm>
          <a:prstGeom prst="rect">
            <a:avLst/>
          </a:prstGeom>
          <a:solidFill>
            <a:srgbClr val="E2701F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1047750"/>
            <a:ext cx="17183100" cy="787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B2A5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Checklist antes de publicar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333500" y="2559050"/>
            <a:ext cx="81724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2250" dirty="0">
                <a:solidFill>
                  <a:srgbClr val="0E17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☐ Código PCMD, Rev. e data corretos no cabeçalho.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525000" y="2559050"/>
            <a:ext cx="81724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2250" dirty="0">
                <a:solidFill>
                  <a:srgbClr val="0E17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☐ Sem macros e sem vínculos externos.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333500" y="3225800"/>
            <a:ext cx="81724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2250" dirty="0">
                <a:solidFill>
                  <a:srgbClr val="0E17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☐ Elaborado e Aprovado preenchidos.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525000" y="3225800"/>
            <a:ext cx="81724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2250" dirty="0">
                <a:solidFill>
                  <a:srgbClr val="0E17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☐ Fórmulas sem #REF!, #N/D ou #DIV/0!.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333500" y="3892550"/>
            <a:ext cx="81724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2250" dirty="0">
                <a:solidFill>
                  <a:srgbClr val="0E17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☐ Coluna Conferência sem nenhum ERRO.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525000" y="3892550"/>
            <a:ext cx="81724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2250" dirty="0">
                <a:solidFill>
                  <a:srgbClr val="0E17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☐ IDs e TAGs únicos, sem repetição.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333500" y="4559300"/>
            <a:ext cx="81724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2250" dirty="0">
                <a:solidFill>
                  <a:srgbClr val="0E17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☐ Listas suspensas (aba Listas) atualizadas.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525000" y="4559300"/>
            <a:ext cx="81724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2250" dirty="0">
                <a:solidFill>
                  <a:srgbClr val="0E17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☐ Impressão A4 testada: área de impressão e quebras.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333500" y="5226050"/>
            <a:ext cx="81724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2250" dirty="0">
                <a:solidFill>
                  <a:srgbClr val="0E17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☐ Logo oficial, sem distorção.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525000" y="5226050"/>
            <a:ext cx="81724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2250" dirty="0">
                <a:solidFill>
                  <a:srgbClr val="0E17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☐ Somente cores e fontes da paleta.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333500" y="5892800"/>
            <a:ext cx="81724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2250" dirty="0">
                <a:solidFill>
                  <a:srgbClr val="0E17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☐ Ortografia revisada (pt-BR).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525000" y="5892800"/>
            <a:ext cx="81724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2250" dirty="0">
                <a:solidFill>
                  <a:srgbClr val="0E17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☐ Histórico de revisões atualizado.</a:t>
            </a:r>
            <a:endParaRPr lang="en-US" sz="2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2334" y="3714750"/>
            <a:ext cx="7603331" cy="2857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2026-10-26T04:02:15Z</dcterms:created>
  <dcterms:modified xsi:type="dcterms:W3CDTF">2026-10-26T04:02:15Z</dcterms:modified>
</cp:coreProperties>
</file>